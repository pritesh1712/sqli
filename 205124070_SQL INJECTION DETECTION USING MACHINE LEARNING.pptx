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7" r:id="rId2"/>
    <p:sldId id="258" r:id="rId3"/>
    <p:sldId id="262" r:id="rId4"/>
    <p:sldId id="259" r:id="rId5"/>
    <p:sldId id="261" r:id="rId6"/>
    <p:sldId id="260" r:id="rId7"/>
    <p:sldId id="263" r:id="rId8"/>
    <p:sldId id="264" r:id="rId9"/>
    <p:sldId id="266" r:id="rId10"/>
    <p:sldId id="267" r:id="rId11"/>
    <p:sldId id="268" r:id="rId12"/>
    <p:sldId id="265" r:id="rId13"/>
    <p:sldId id="270" r:id="rId14"/>
    <p:sldId id="271" r:id="rId15"/>
    <p:sldId id="272" r:id="rId16"/>
    <p:sldId id="26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0016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47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333D30-D763-4A35-9BD4-423EA47291AC}" type="doc">
      <dgm:prSet loTypeId="urn:microsoft.com/office/officeart/2005/8/layout/chevron1" loCatId="process" qsTypeId="urn:microsoft.com/office/officeart/2005/8/quickstyle/simple5" qsCatId="simple" csTypeId="urn:microsoft.com/office/officeart/2005/8/colors/accent3_5" csCatId="accent3" phldr="1"/>
      <dgm:spPr/>
      <dgm:t>
        <a:bodyPr/>
        <a:lstStyle/>
        <a:p>
          <a:endParaRPr lang="en-US"/>
        </a:p>
      </dgm:t>
    </dgm:pt>
    <dgm:pt modelId="{535C1BCF-8579-4488-B94D-164C86242BDF}">
      <dgm:prSet phldrT="[Text]" custT="1"/>
      <dgm:spPr/>
      <dgm:t>
        <a:bodyPr/>
        <a:lstStyle/>
        <a:p>
          <a:r>
            <a:rPr lang="en-US" sz="2000" dirty="0"/>
            <a:t>User input</a:t>
          </a:r>
        </a:p>
      </dgm:t>
    </dgm:pt>
    <dgm:pt modelId="{6B6273BF-FD47-47A4-9D1E-DA4616A5EE94}" type="parTrans" cxnId="{1948AC67-53DF-484D-82A5-1442719D5CF4}">
      <dgm:prSet/>
      <dgm:spPr/>
      <dgm:t>
        <a:bodyPr/>
        <a:lstStyle/>
        <a:p>
          <a:endParaRPr lang="en-US"/>
        </a:p>
      </dgm:t>
    </dgm:pt>
    <dgm:pt modelId="{24ECCE8E-261C-410B-B429-D9E36E29123C}" type="sibTrans" cxnId="{1948AC67-53DF-484D-82A5-1442719D5CF4}">
      <dgm:prSet/>
      <dgm:spPr/>
      <dgm:t>
        <a:bodyPr/>
        <a:lstStyle/>
        <a:p>
          <a:endParaRPr lang="en-US"/>
        </a:p>
      </dgm:t>
    </dgm:pt>
    <dgm:pt modelId="{7C970BC6-FDBB-4A73-BA82-F4C6B709C01B}">
      <dgm:prSet phldrT="[Text]" custT="1"/>
      <dgm:spPr/>
      <dgm:t>
        <a:bodyPr/>
        <a:lstStyle/>
        <a:p>
          <a:r>
            <a:rPr lang="en-US" sz="2000" dirty="0"/>
            <a:t>Pre-processing </a:t>
          </a:r>
        </a:p>
      </dgm:t>
    </dgm:pt>
    <dgm:pt modelId="{115A5915-1D0B-4E0F-91D1-2DB198C5E47F}" type="parTrans" cxnId="{2A031AD5-AFF6-4B1E-A4C1-C596407EC5CE}">
      <dgm:prSet/>
      <dgm:spPr/>
      <dgm:t>
        <a:bodyPr/>
        <a:lstStyle/>
        <a:p>
          <a:endParaRPr lang="en-US"/>
        </a:p>
      </dgm:t>
    </dgm:pt>
    <dgm:pt modelId="{6C649D5B-9EEF-452D-AD67-397BF2A88B76}" type="sibTrans" cxnId="{2A031AD5-AFF6-4B1E-A4C1-C596407EC5CE}">
      <dgm:prSet/>
      <dgm:spPr/>
      <dgm:t>
        <a:bodyPr/>
        <a:lstStyle/>
        <a:p>
          <a:endParaRPr lang="en-US"/>
        </a:p>
      </dgm:t>
    </dgm:pt>
    <dgm:pt modelId="{81B7076F-8092-442C-B047-FDEE59A1C883}">
      <dgm:prSet phldrT="[Text]" custT="1"/>
      <dgm:spPr/>
      <dgm:t>
        <a:bodyPr/>
        <a:lstStyle/>
        <a:p>
          <a:r>
            <a:rPr lang="en-US" sz="2000" dirty="0"/>
            <a:t>Model prediction</a:t>
          </a:r>
        </a:p>
        <a:p>
          <a:r>
            <a:rPr lang="en-US" sz="1900" dirty="0"/>
            <a:t>(</a:t>
          </a:r>
          <a:r>
            <a:rPr lang="en-US" sz="1900" dirty="0">
              <a:solidFill>
                <a:schemeClr val="bg1"/>
              </a:solidFill>
              <a:highlight>
                <a:srgbClr val="00FF00"/>
              </a:highlight>
            </a:rPr>
            <a:t>Safe</a:t>
          </a:r>
          <a:r>
            <a:rPr lang="en-US" sz="1900" dirty="0">
              <a:solidFill>
                <a:schemeClr val="tx1"/>
              </a:solidFill>
            </a:rPr>
            <a:t>/</a:t>
          </a:r>
          <a:r>
            <a:rPr lang="en-US" sz="1900" dirty="0">
              <a:solidFill>
                <a:schemeClr val="bg1"/>
              </a:solidFill>
              <a:highlight>
                <a:srgbClr val="FF0000"/>
              </a:highlight>
            </a:rPr>
            <a:t>Attack</a:t>
          </a:r>
          <a:r>
            <a:rPr lang="en-US" sz="1900" dirty="0"/>
            <a:t>)</a:t>
          </a:r>
        </a:p>
      </dgm:t>
    </dgm:pt>
    <dgm:pt modelId="{A5C77252-C254-4E15-92BD-6DD8C97FA867}" type="parTrans" cxnId="{B06A247C-AAFE-4922-AD47-C536F7433983}">
      <dgm:prSet/>
      <dgm:spPr/>
      <dgm:t>
        <a:bodyPr/>
        <a:lstStyle/>
        <a:p>
          <a:endParaRPr lang="en-US"/>
        </a:p>
      </dgm:t>
    </dgm:pt>
    <dgm:pt modelId="{A2F8B770-6353-4872-B306-1ED20C343393}" type="sibTrans" cxnId="{B06A247C-AAFE-4922-AD47-C536F7433983}">
      <dgm:prSet/>
      <dgm:spPr/>
      <dgm:t>
        <a:bodyPr/>
        <a:lstStyle/>
        <a:p>
          <a:endParaRPr lang="en-US"/>
        </a:p>
      </dgm:t>
    </dgm:pt>
    <dgm:pt modelId="{E6351F75-8606-4437-A18C-A3A2A15BF92D}">
      <dgm:prSet custT="1"/>
      <dgm:spPr/>
      <dgm:t>
        <a:bodyPr/>
        <a:lstStyle/>
        <a:p>
          <a:r>
            <a:rPr lang="en-US" sz="2000" dirty="0"/>
            <a:t>Admin - login</a:t>
          </a:r>
        </a:p>
      </dgm:t>
    </dgm:pt>
    <dgm:pt modelId="{41464DDC-7930-4EAB-A37E-D06E7377955E}" type="parTrans" cxnId="{87859525-F4F2-494B-B4FA-B3D43FC542ED}">
      <dgm:prSet/>
      <dgm:spPr/>
      <dgm:t>
        <a:bodyPr/>
        <a:lstStyle/>
        <a:p>
          <a:endParaRPr lang="en-US"/>
        </a:p>
      </dgm:t>
    </dgm:pt>
    <dgm:pt modelId="{23DA64A6-7033-44DA-8DB2-7B91827BEE2D}" type="sibTrans" cxnId="{87859525-F4F2-494B-B4FA-B3D43FC542ED}">
      <dgm:prSet/>
      <dgm:spPr/>
      <dgm:t>
        <a:bodyPr/>
        <a:lstStyle/>
        <a:p>
          <a:endParaRPr lang="en-US"/>
        </a:p>
      </dgm:t>
    </dgm:pt>
    <dgm:pt modelId="{F298ACB4-13E8-43F9-B195-E9D0C0A4BADB}">
      <dgm:prSet custT="1"/>
      <dgm:spPr/>
      <dgm:t>
        <a:bodyPr/>
        <a:lstStyle/>
        <a:p>
          <a:r>
            <a:rPr lang="en-US" sz="1900" dirty="0"/>
            <a:t>Dashboard </a:t>
          </a:r>
        </a:p>
        <a:p>
          <a:r>
            <a:rPr lang="en-US" sz="2000" dirty="0"/>
            <a:t>(pdf export)</a:t>
          </a:r>
        </a:p>
      </dgm:t>
    </dgm:pt>
    <dgm:pt modelId="{A67A69AC-529D-4FF6-B353-51BB12269D1D}" type="parTrans" cxnId="{BF2C526D-3531-4928-A567-A914B29CF165}">
      <dgm:prSet/>
      <dgm:spPr/>
      <dgm:t>
        <a:bodyPr/>
        <a:lstStyle/>
        <a:p>
          <a:endParaRPr lang="en-US"/>
        </a:p>
      </dgm:t>
    </dgm:pt>
    <dgm:pt modelId="{F0073724-11FB-45DD-8DC6-6F6AA57FC6C0}" type="sibTrans" cxnId="{BF2C526D-3531-4928-A567-A914B29CF165}">
      <dgm:prSet/>
      <dgm:spPr/>
      <dgm:t>
        <a:bodyPr/>
        <a:lstStyle/>
        <a:p>
          <a:endParaRPr lang="en-US"/>
        </a:p>
      </dgm:t>
    </dgm:pt>
    <dgm:pt modelId="{CC75E4A4-DE8D-430F-9881-AC9B73D4A469}" type="pres">
      <dgm:prSet presAssocID="{12333D30-D763-4A35-9BD4-423EA47291AC}" presName="Name0" presStyleCnt="0">
        <dgm:presLayoutVars>
          <dgm:dir/>
          <dgm:animLvl val="lvl"/>
          <dgm:resizeHandles val="exact"/>
        </dgm:presLayoutVars>
      </dgm:prSet>
      <dgm:spPr/>
    </dgm:pt>
    <dgm:pt modelId="{9B4A7523-3AEF-42EA-9BA0-CF004585448B}" type="pres">
      <dgm:prSet presAssocID="{535C1BCF-8579-4488-B94D-164C86242BDF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48F372E5-E16E-4FA0-B63C-D7AA674D58E9}" type="pres">
      <dgm:prSet presAssocID="{24ECCE8E-261C-410B-B429-D9E36E29123C}" presName="parTxOnlySpace" presStyleCnt="0"/>
      <dgm:spPr/>
    </dgm:pt>
    <dgm:pt modelId="{8E47574A-E10D-4F55-8C2C-A353F929B094}" type="pres">
      <dgm:prSet presAssocID="{7C970BC6-FDBB-4A73-BA82-F4C6B709C01B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C1290EC0-0B7E-4086-A567-59D8CD814A08}" type="pres">
      <dgm:prSet presAssocID="{6C649D5B-9EEF-452D-AD67-397BF2A88B76}" presName="parTxOnlySpace" presStyleCnt="0"/>
      <dgm:spPr/>
    </dgm:pt>
    <dgm:pt modelId="{D4F8B23C-7756-4A98-8E02-4142CECD614F}" type="pres">
      <dgm:prSet presAssocID="{81B7076F-8092-442C-B047-FDEE59A1C883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D8C0468B-835D-4AF6-AA08-EB191F73F67F}" type="pres">
      <dgm:prSet presAssocID="{A2F8B770-6353-4872-B306-1ED20C343393}" presName="parTxOnlySpace" presStyleCnt="0"/>
      <dgm:spPr/>
    </dgm:pt>
    <dgm:pt modelId="{318548EA-6BAF-4A01-B9A9-911948A165E4}" type="pres">
      <dgm:prSet presAssocID="{E6351F75-8606-4437-A18C-A3A2A15BF92D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B0DBEB9A-9C3C-4F04-BF59-DC108825470B}" type="pres">
      <dgm:prSet presAssocID="{23DA64A6-7033-44DA-8DB2-7B91827BEE2D}" presName="parTxOnlySpace" presStyleCnt="0"/>
      <dgm:spPr/>
    </dgm:pt>
    <dgm:pt modelId="{AB2C6D38-6C7D-4D3E-AADB-7F71D4D0F904}" type="pres">
      <dgm:prSet presAssocID="{F298ACB4-13E8-43F9-B195-E9D0C0A4BADB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B3AAB71A-7F37-42D2-A851-2A16E21BE6C3}" type="presOf" srcId="{E6351F75-8606-4437-A18C-A3A2A15BF92D}" destId="{318548EA-6BAF-4A01-B9A9-911948A165E4}" srcOrd="0" destOrd="0" presId="urn:microsoft.com/office/officeart/2005/8/layout/chevron1"/>
    <dgm:cxn modelId="{87859525-F4F2-494B-B4FA-B3D43FC542ED}" srcId="{12333D30-D763-4A35-9BD4-423EA47291AC}" destId="{E6351F75-8606-4437-A18C-A3A2A15BF92D}" srcOrd="3" destOrd="0" parTransId="{41464DDC-7930-4EAB-A37E-D06E7377955E}" sibTransId="{23DA64A6-7033-44DA-8DB2-7B91827BEE2D}"/>
    <dgm:cxn modelId="{1948AC67-53DF-484D-82A5-1442719D5CF4}" srcId="{12333D30-D763-4A35-9BD4-423EA47291AC}" destId="{535C1BCF-8579-4488-B94D-164C86242BDF}" srcOrd="0" destOrd="0" parTransId="{6B6273BF-FD47-47A4-9D1E-DA4616A5EE94}" sibTransId="{24ECCE8E-261C-410B-B429-D9E36E29123C}"/>
    <dgm:cxn modelId="{BF2C526D-3531-4928-A567-A914B29CF165}" srcId="{12333D30-D763-4A35-9BD4-423EA47291AC}" destId="{F298ACB4-13E8-43F9-B195-E9D0C0A4BADB}" srcOrd="4" destOrd="0" parTransId="{A67A69AC-529D-4FF6-B353-51BB12269D1D}" sibTransId="{F0073724-11FB-45DD-8DC6-6F6AA57FC6C0}"/>
    <dgm:cxn modelId="{B06A247C-AAFE-4922-AD47-C536F7433983}" srcId="{12333D30-D763-4A35-9BD4-423EA47291AC}" destId="{81B7076F-8092-442C-B047-FDEE59A1C883}" srcOrd="2" destOrd="0" parTransId="{A5C77252-C254-4E15-92BD-6DD8C97FA867}" sibTransId="{A2F8B770-6353-4872-B306-1ED20C343393}"/>
    <dgm:cxn modelId="{DA72A4A5-D870-4151-B8AF-06DF6221FA4D}" type="presOf" srcId="{12333D30-D763-4A35-9BD4-423EA47291AC}" destId="{CC75E4A4-DE8D-430F-9881-AC9B73D4A469}" srcOrd="0" destOrd="0" presId="urn:microsoft.com/office/officeart/2005/8/layout/chevron1"/>
    <dgm:cxn modelId="{8A64F5A8-4EFF-432D-A8F2-DD439980C8EC}" type="presOf" srcId="{535C1BCF-8579-4488-B94D-164C86242BDF}" destId="{9B4A7523-3AEF-42EA-9BA0-CF004585448B}" srcOrd="0" destOrd="0" presId="urn:microsoft.com/office/officeart/2005/8/layout/chevron1"/>
    <dgm:cxn modelId="{18AC2CBF-F303-459F-A2B6-4BF90DE23AEE}" type="presOf" srcId="{81B7076F-8092-442C-B047-FDEE59A1C883}" destId="{D4F8B23C-7756-4A98-8E02-4142CECD614F}" srcOrd="0" destOrd="0" presId="urn:microsoft.com/office/officeart/2005/8/layout/chevron1"/>
    <dgm:cxn modelId="{93F457D2-1DBF-40C9-BEEB-8A70013B0C58}" type="presOf" srcId="{7C970BC6-FDBB-4A73-BA82-F4C6B709C01B}" destId="{8E47574A-E10D-4F55-8C2C-A353F929B094}" srcOrd="0" destOrd="0" presId="urn:microsoft.com/office/officeart/2005/8/layout/chevron1"/>
    <dgm:cxn modelId="{2A031AD5-AFF6-4B1E-A4C1-C596407EC5CE}" srcId="{12333D30-D763-4A35-9BD4-423EA47291AC}" destId="{7C970BC6-FDBB-4A73-BA82-F4C6B709C01B}" srcOrd="1" destOrd="0" parTransId="{115A5915-1D0B-4E0F-91D1-2DB198C5E47F}" sibTransId="{6C649D5B-9EEF-452D-AD67-397BF2A88B76}"/>
    <dgm:cxn modelId="{FDE967FD-BA39-42D3-89E8-F12908A6D971}" type="presOf" srcId="{F298ACB4-13E8-43F9-B195-E9D0C0A4BADB}" destId="{AB2C6D38-6C7D-4D3E-AADB-7F71D4D0F904}" srcOrd="0" destOrd="0" presId="urn:microsoft.com/office/officeart/2005/8/layout/chevron1"/>
    <dgm:cxn modelId="{0592EFBA-22FB-42BD-8424-60291C957468}" type="presParOf" srcId="{CC75E4A4-DE8D-430F-9881-AC9B73D4A469}" destId="{9B4A7523-3AEF-42EA-9BA0-CF004585448B}" srcOrd="0" destOrd="0" presId="urn:microsoft.com/office/officeart/2005/8/layout/chevron1"/>
    <dgm:cxn modelId="{B93A884A-D0CF-4050-AF63-9993BC4E8555}" type="presParOf" srcId="{CC75E4A4-DE8D-430F-9881-AC9B73D4A469}" destId="{48F372E5-E16E-4FA0-B63C-D7AA674D58E9}" srcOrd="1" destOrd="0" presId="urn:microsoft.com/office/officeart/2005/8/layout/chevron1"/>
    <dgm:cxn modelId="{81FCF95E-F5A1-40F9-B786-0FE1E736B9A4}" type="presParOf" srcId="{CC75E4A4-DE8D-430F-9881-AC9B73D4A469}" destId="{8E47574A-E10D-4F55-8C2C-A353F929B094}" srcOrd="2" destOrd="0" presId="urn:microsoft.com/office/officeart/2005/8/layout/chevron1"/>
    <dgm:cxn modelId="{B4DCF6BB-207F-448D-AEF3-8FCC334E3F17}" type="presParOf" srcId="{CC75E4A4-DE8D-430F-9881-AC9B73D4A469}" destId="{C1290EC0-0B7E-4086-A567-59D8CD814A08}" srcOrd="3" destOrd="0" presId="urn:microsoft.com/office/officeart/2005/8/layout/chevron1"/>
    <dgm:cxn modelId="{B6720821-AE52-42A9-B9DC-98C44B63D572}" type="presParOf" srcId="{CC75E4A4-DE8D-430F-9881-AC9B73D4A469}" destId="{D4F8B23C-7756-4A98-8E02-4142CECD614F}" srcOrd="4" destOrd="0" presId="urn:microsoft.com/office/officeart/2005/8/layout/chevron1"/>
    <dgm:cxn modelId="{E155F2FA-6E0D-4F86-9BDA-CD8CCB71AA3B}" type="presParOf" srcId="{CC75E4A4-DE8D-430F-9881-AC9B73D4A469}" destId="{D8C0468B-835D-4AF6-AA08-EB191F73F67F}" srcOrd="5" destOrd="0" presId="urn:microsoft.com/office/officeart/2005/8/layout/chevron1"/>
    <dgm:cxn modelId="{311603E9-9E60-44F3-8F55-93DBCB70DE17}" type="presParOf" srcId="{CC75E4A4-DE8D-430F-9881-AC9B73D4A469}" destId="{318548EA-6BAF-4A01-B9A9-911948A165E4}" srcOrd="6" destOrd="0" presId="urn:microsoft.com/office/officeart/2005/8/layout/chevron1"/>
    <dgm:cxn modelId="{BA422544-3DBA-49B1-B5EC-76711C3B1149}" type="presParOf" srcId="{CC75E4A4-DE8D-430F-9881-AC9B73D4A469}" destId="{B0DBEB9A-9C3C-4F04-BF59-DC108825470B}" srcOrd="7" destOrd="0" presId="urn:microsoft.com/office/officeart/2005/8/layout/chevron1"/>
    <dgm:cxn modelId="{A628F0E7-0B62-4C4E-A4E1-1E057FEACFD2}" type="presParOf" srcId="{CC75E4A4-DE8D-430F-9881-AC9B73D4A469}" destId="{AB2C6D38-6C7D-4D3E-AADB-7F71D4D0F904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4A7523-3AEF-42EA-9BA0-CF004585448B}">
      <dsp:nvSpPr>
        <dsp:cNvPr id="0" name=""/>
        <dsp:cNvSpPr/>
      </dsp:nvSpPr>
      <dsp:spPr>
        <a:xfrm>
          <a:off x="2911" y="679630"/>
          <a:ext cx="2591677" cy="1036671"/>
        </a:xfrm>
        <a:prstGeom prst="chevron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0"/>
                <a:shade val="48000"/>
                <a:satMod val="180000"/>
                <a:lumMod val="94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0"/>
                <a:shade val="48000"/>
                <a:satMod val="180000"/>
                <a:lumMod val="94000"/>
              </a:schemeClr>
            </a:gs>
          </a:gsLst>
          <a:lin ang="4140000" scaled="1"/>
        </a:gradFill>
        <a:ln>
          <a:noFill/>
        </a:ln>
        <a:effectLst>
          <a:outerShdw blurRad="114300" dist="114300" dir="5400000" rotWithShape="0">
            <a:srgbClr val="000000">
              <a:alpha val="7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plastic">
          <a:bevelT w="381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User input</a:t>
          </a:r>
        </a:p>
      </dsp:txBody>
      <dsp:txXfrm>
        <a:off x="521247" y="679630"/>
        <a:ext cx="1555006" cy="1036671"/>
      </dsp:txXfrm>
    </dsp:sp>
    <dsp:sp modelId="{8E47574A-E10D-4F55-8C2C-A353F929B094}">
      <dsp:nvSpPr>
        <dsp:cNvPr id="0" name=""/>
        <dsp:cNvSpPr/>
      </dsp:nvSpPr>
      <dsp:spPr>
        <a:xfrm>
          <a:off x="2335421" y="679630"/>
          <a:ext cx="2591677" cy="1036671"/>
        </a:xfrm>
        <a:prstGeom prst="chevron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-10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-10000"/>
                <a:shade val="48000"/>
                <a:satMod val="180000"/>
                <a:lumMod val="94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-10000"/>
                <a:shade val="48000"/>
                <a:satMod val="180000"/>
                <a:lumMod val="94000"/>
              </a:schemeClr>
            </a:gs>
          </a:gsLst>
          <a:lin ang="4140000" scaled="1"/>
        </a:gradFill>
        <a:ln>
          <a:noFill/>
        </a:ln>
        <a:effectLst>
          <a:outerShdw blurRad="114300" dist="114300" dir="5400000" rotWithShape="0">
            <a:srgbClr val="000000">
              <a:alpha val="7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plastic">
          <a:bevelT w="381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Pre-processing </a:t>
          </a:r>
        </a:p>
      </dsp:txBody>
      <dsp:txXfrm>
        <a:off x="2853757" y="679630"/>
        <a:ext cx="1555006" cy="1036671"/>
      </dsp:txXfrm>
    </dsp:sp>
    <dsp:sp modelId="{D4F8B23C-7756-4A98-8E02-4142CECD614F}">
      <dsp:nvSpPr>
        <dsp:cNvPr id="0" name=""/>
        <dsp:cNvSpPr/>
      </dsp:nvSpPr>
      <dsp:spPr>
        <a:xfrm>
          <a:off x="4667931" y="679630"/>
          <a:ext cx="2591677" cy="1036671"/>
        </a:xfrm>
        <a:prstGeom prst="chevron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-20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-20000"/>
                <a:shade val="48000"/>
                <a:satMod val="180000"/>
                <a:lumMod val="94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-20000"/>
                <a:shade val="48000"/>
                <a:satMod val="180000"/>
                <a:lumMod val="94000"/>
              </a:schemeClr>
            </a:gs>
          </a:gsLst>
          <a:lin ang="4140000" scaled="1"/>
        </a:gradFill>
        <a:ln>
          <a:noFill/>
        </a:ln>
        <a:effectLst>
          <a:outerShdw blurRad="114300" dist="114300" dir="5400000" rotWithShape="0">
            <a:srgbClr val="000000">
              <a:alpha val="7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plastic">
          <a:bevelT w="381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Model prediction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(</a:t>
          </a:r>
          <a:r>
            <a:rPr lang="en-US" sz="1900" kern="1200" dirty="0">
              <a:solidFill>
                <a:schemeClr val="bg1"/>
              </a:solidFill>
              <a:highlight>
                <a:srgbClr val="00FF00"/>
              </a:highlight>
            </a:rPr>
            <a:t>Safe</a:t>
          </a:r>
          <a:r>
            <a:rPr lang="en-US" sz="1900" kern="1200" dirty="0">
              <a:solidFill>
                <a:schemeClr val="tx1"/>
              </a:solidFill>
            </a:rPr>
            <a:t>/</a:t>
          </a:r>
          <a:r>
            <a:rPr lang="en-US" sz="1900" kern="1200" dirty="0">
              <a:solidFill>
                <a:schemeClr val="bg1"/>
              </a:solidFill>
              <a:highlight>
                <a:srgbClr val="FF0000"/>
              </a:highlight>
            </a:rPr>
            <a:t>Attack</a:t>
          </a:r>
          <a:r>
            <a:rPr lang="en-US" sz="1900" kern="1200" dirty="0"/>
            <a:t>)</a:t>
          </a:r>
        </a:p>
      </dsp:txBody>
      <dsp:txXfrm>
        <a:off x="5186267" y="679630"/>
        <a:ext cx="1555006" cy="1036671"/>
      </dsp:txXfrm>
    </dsp:sp>
    <dsp:sp modelId="{318548EA-6BAF-4A01-B9A9-911948A165E4}">
      <dsp:nvSpPr>
        <dsp:cNvPr id="0" name=""/>
        <dsp:cNvSpPr/>
      </dsp:nvSpPr>
      <dsp:spPr>
        <a:xfrm>
          <a:off x="7000441" y="679630"/>
          <a:ext cx="2591677" cy="1036671"/>
        </a:xfrm>
        <a:prstGeom prst="chevron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-30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-30000"/>
                <a:shade val="48000"/>
                <a:satMod val="180000"/>
                <a:lumMod val="94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-30000"/>
                <a:shade val="48000"/>
                <a:satMod val="180000"/>
                <a:lumMod val="94000"/>
              </a:schemeClr>
            </a:gs>
          </a:gsLst>
          <a:lin ang="4140000" scaled="1"/>
        </a:gradFill>
        <a:ln>
          <a:noFill/>
        </a:ln>
        <a:effectLst>
          <a:outerShdw blurRad="114300" dist="114300" dir="5400000" rotWithShape="0">
            <a:srgbClr val="000000">
              <a:alpha val="7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plastic">
          <a:bevelT w="381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Admin - login</a:t>
          </a:r>
        </a:p>
      </dsp:txBody>
      <dsp:txXfrm>
        <a:off x="7518777" y="679630"/>
        <a:ext cx="1555006" cy="1036671"/>
      </dsp:txXfrm>
    </dsp:sp>
    <dsp:sp modelId="{AB2C6D38-6C7D-4D3E-AADB-7F71D4D0F904}">
      <dsp:nvSpPr>
        <dsp:cNvPr id="0" name=""/>
        <dsp:cNvSpPr/>
      </dsp:nvSpPr>
      <dsp:spPr>
        <a:xfrm>
          <a:off x="9332951" y="679630"/>
          <a:ext cx="2591677" cy="1036671"/>
        </a:xfrm>
        <a:prstGeom prst="chevron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-40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-40000"/>
                <a:shade val="48000"/>
                <a:satMod val="180000"/>
                <a:lumMod val="94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-40000"/>
                <a:shade val="48000"/>
                <a:satMod val="180000"/>
                <a:lumMod val="94000"/>
              </a:schemeClr>
            </a:gs>
          </a:gsLst>
          <a:lin ang="4140000" scaled="1"/>
        </a:gradFill>
        <a:ln>
          <a:noFill/>
        </a:ln>
        <a:effectLst>
          <a:outerShdw blurRad="114300" dist="114300" dir="5400000" rotWithShape="0">
            <a:srgbClr val="000000">
              <a:alpha val="7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plastic">
          <a:bevelT w="381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Dashboard 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(pdf export)</a:t>
          </a:r>
        </a:p>
      </dsp:txBody>
      <dsp:txXfrm>
        <a:off x="9851287" y="679630"/>
        <a:ext cx="1555006" cy="10366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F63C0-B93F-43AA-8304-9965D2BE337E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C145A-51C2-464F-B3EC-29DDB5703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278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F63C0-B93F-43AA-8304-9965D2BE337E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C145A-51C2-464F-B3EC-29DDB5703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451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F63C0-B93F-43AA-8304-9965D2BE337E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C145A-51C2-464F-B3EC-29DDB5703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6996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F63C0-B93F-43AA-8304-9965D2BE337E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C145A-51C2-464F-B3EC-29DDB5703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460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F63C0-B93F-43AA-8304-9965D2BE337E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C145A-51C2-464F-B3EC-29DDB5703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1283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F63C0-B93F-43AA-8304-9965D2BE337E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C145A-51C2-464F-B3EC-29DDB5703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90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F63C0-B93F-43AA-8304-9965D2BE337E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C145A-51C2-464F-B3EC-29DDB5703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3264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F63C0-B93F-43AA-8304-9965D2BE337E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C145A-51C2-464F-B3EC-29DDB5703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5314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F63C0-B93F-43AA-8304-9965D2BE337E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C145A-51C2-464F-B3EC-29DDB5703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6761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F63C0-B93F-43AA-8304-9965D2BE337E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C145A-51C2-464F-B3EC-29DDB5703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3855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F63C0-B93F-43AA-8304-9965D2BE337E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C145A-51C2-464F-B3EC-29DDB5703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8799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F63C0-B93F-43AA-8304-9965D2BE337E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C145A-51C2-464F-B3EC-29DDB57038D5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832601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F63C0-B93F-43AA-8304-9965D2BE337E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C145A-51C2-464F-B3EC-29DDB5703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5056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F63C0-B93F-43AA-8304-9965D2BE337E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C145A-51C2-464F-B3EC-29DDB5703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760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F63C0-B93F-43AA-8304-9965D2BE337E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C145A-51C2-464F-B3EC-29DDB5703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268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F63C0-B93F-43AA-8304-9965D2BE337E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C145A-51C2-464F-B3EC-29DDB5703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6264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F63C0-B93F-43AA-8304-9965D2BE337E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C145A-51C2-464F-B3EC-29DDB5703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9313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6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DDBF63C0-B93F-43AA-8304-9965D2BE337E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8BC145A-51C2-464F-B3EC-29DDB5703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636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microsoft.com/office/2007/relationships/hdphoto" Target="../media/hdphoto7.wdp"/><Relationship Id="rId3" Type="http://schemas.microsoft.com/office/2007/relationships/hdphoto" Target="../media/hdphoto2.wdp"/><Relationship Id="rId7" Type="http://schemas.microsoft.com/office/2007/relationships/hdphoto" Target="../media/hdphoto4.wdp"/><Relationship Id="rId12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microsoft.com/office/2007/relationships/hdphoto" Target="../media/hdphoto6.wdp"/><Relationship Id="rId5" Type="http://schemas.microsoft.com/office/2007/relationships/hdphoto" Target="../media/hdphoto3.wdp"/><Relationship Id="rId15" Type="http://schemas.microsoft.com/office/2007/relationships/hdphoto" Target="../media/hdphoto8.wdp"/><Relationship Id="rId10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microsoft.com/office/2007/relationships/hdphoto" Target="../media/hdphoto5.wdp"/><Relationship Id="rId1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C7749-EB46-8A61-332C-1CFCB5124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624" y="2669240"/>
            <a:ext cx="9520518" cy="1519519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SQL INJECTION DETECTION USING MACHINE LEARNING</a:t>
            </a:r>
          </a:p>
        </p:txBody>
      </p:sp>
      <p:pic>
        <p:nvPicPr>
          <p:cNvPr id="5" name="Picture 4" descr="A logo of a institute of technology&#10;&#10;AI-generated content may be incorrect.">
            <a:extLst>
              <a:ext uri="{FF2B5EF4-FFF2-40B4-BE49-F238E27FC236}">
                <a16:creationId xmlns:a16="http://schemas.microsoft.com/office/drawing/2014/main" id="{57CCE740-B46B-A689-9802-733C16BD85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34667" y1="20982" x2="48889" y2="15625"/>
                        <a14:foregroundMark x1="34222" y1="14286" x2="40000" y2="12946"/>
                        <a14:foregroundMark x1="34222" y1="11161" x2="54667" y2="9821"/>
                        <a14:foregroundMark x1="12444" y1="34821" x2="10667" y2="62500"/>
                        <a14:foregroundMark x1="10667" y1="62500" x2="11111" y2="62500"/>
                        <a14:foregroundMark x1="86667" y1="36161" x2="88000" y2="64286"/>
                        <a14:foregroundMark x1="34667" y1="87946" x2="62667" y2="89286"/>
                        <a14:foregroundMark x1="62667" y1="89286" x2="63556" y2="88839"/>
                        <a14:foregroundMark x1="58222" y1="37054" x2="52889" y2="5446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917" y="365164"/>
            <a:ext cx="1773932" cy="17660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458AB8D-DE27-8379-68EC-BEB7F69158B4}"/>
              </a:ext>
            </a:extLst>
          </p:cNvPr>
          <p:cNvSpPr/>
          <p:nvPr/>
        </p:nvSpPr>
        <p:spPr>
          <a:xfrm>
            <a:off x="8302027" y="5841685"/>
            <a:ext cx="3930315" cy="8181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NAME : </a:t>
            </a:r>
            <a:r>
              <a:rPr lang="en-US" sz="2000" b="1" dirty="0"/>
              <a:t>PRITESH KUMRAWAT</a:t>
            </a:r>
          </a:p>
          <a:p>
            <a:pPr algn="ctr"/>
            <a:r>
              <a:rPr lang="en-US" sz="2000" dirty="0"/>
              <a:t>ROLL NO. </a:t>
            </a:r>
            <a:r>
              <a:rPr lang="en-US" sz="2000" b="1" dirty="0"/>
              <a:t>205124070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CE1811-F2AC-996F-B834-22A2D92F6282}"/>
              </a:ext>
            </a:extLst>
          </p:cNvPr>
          <p:cNvSpPr/>
          <p:nvPr/>
        </p:nvSpPr>
        <p:spPr>
          <a:xfrm>
            <a:off x="-1" y="5841685"/>
            <a:ext cx="4259179" cy="8181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GUIDE : </a:t>
            </a:r>
            <a:r>
              <a:rPr lang="en-US" sz="2000" b="1" dirty="0"/>
              <a:t>DR. MICHAEL AROCK</a:t>
            </a:r>
          </a:p>
        </p:txBody>
      </p:sp>
    </p:spTree>
    <p:extLst>
      <p:ext uri="{BB962C8B-B14F-4D97-AF65-F5344CB8AC3E}">
        <p14:creationId xmlns:p14="http://schemas.microsoft.com/office/powerpoint/2010/main" val="29815523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3987418-E3BC-B9F8-3B99-D6D65F5ECE0F}"/>
              </a:ext>
            </a:extLst>
          </p:cNvPr>
          <p:cNvSpPr/>
          <p:nvPr/>
        </p:nvSpPr>
        <p:spPr>
          <a:xfrm>
            <a:off x="1010656" y="336885"/>
            <a:ext cx="9994228" cy="10748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latin typeface="+mj-lt"/>
              </a:rPr>
              <a:t>What is SQL Injection ?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6F295B-FEE0-93A4-B41F-C97CFDBC11DC}"/>
              </a:ext>
            </a:extLst>
          </p:cNvPr>
          <p:cNvCxnSpPr/>
          <p:nvPr/>
        </p:nvCxnSpPr>
        <p:spPr>
          <a:xfrm>
            <a:off x="1010656" y="1340266"/>
            <a:ext cx="96906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CAA8990-F6E8-54F3-A66C-C8FD4C179F21}"/>
              </a:ext>
            </a:extLst>
          </p:cNvPr>
          <p:cNvSpPr/>
          <p:nvPr/>
        </p:nvSpPr>
        <p:spPr>
          <a:xfrm>
            <a:off x="1010656" y="2657982"/>
            <a:ext cx="9994228" cy="10748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latin typeface="+mj-lt"/>
              </a:rPr>
              <a:t>Why SQL Injection is Dangerous ?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7721925-3DFF-4DD0-3939-28CB41E38933}"/>
              </a:ext>
            </a:extLst>
          </p:cNvPr>
          <p:cNvCxnSpPr/>
          <p:nvPr/>
        </p:nvCxnSpPr>
        <p:spPr>
          <a:xfrm>
            <a:off x="1010656" y="3661363"/>
            <a:ext cx="96906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2">
            <a:extLst>
              <a:ext uri="{FF2B5EF4-FFF2-40B4-BE49-F238E27FC236}">
                <a16:creationId xmlns:a16="http://schemas.microsoft.com/office/drawing/2014/main" id="{AD5A986D-005D-83E5-2BA0-0C1844FD3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656" y="3950645"/>
            <a:ext cx="9690682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Steals Data:</a:t>
            </a:r>
            <a:r>
              <a:rPr lang="en-US" altLang="en-US" sz="22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en-US" altLang="en-US" sz="2200" dirty="0">
                <a:solidFill>
                  <a:schemeClr val="tx1">
                    <a:lumMod val="75000"/>
                  </a:schemeClr>
                </a:solidFill>
              </a:rPr>
              <a:t>Hackers can read private or sensitive information from the database.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Bypasses Login:</a:t>
            </a:r>
            <a:r>
              <a:rPr lang="en-US" altLang="en-US" sz="22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en-US" altLang="en-US" sz="2200" dirty="0">
                <a:solidFill>
                  <a:schemeClr val="tx1">
                    <a:lumMod val="75000"/>
                  </a:schemeClr>
                </a:solidFill>
              </a:rPr>
              <a:t>Allows access to accounts without needing the correct password.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Changes Information:</a:t>
            </a:r>
            <a:r>
              <a:rPr lang="en-US" altLang="en-US" sz="22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en-US" altLang="en-US" sz="2200" dirty="0">
                <a:solidFill>
                  <a:schemeClr val="tx1">
                    <a:lumMod val="75000"/>
                  </a:schemeClr>
                </a:solidFill>
              </a:rPr>
              <a:t>Attackers can update or insert fake data into the system.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Deletes Records:</a:t>
            </a:r>
            <a:r>
              <a:rPr lang="en-US" altLang="en-US" sz="22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en-US" altLang="en-US" sz="2200" dirty="0">
                <a:solidFill>
                  <a:schemeClr val="tx1">
                    <a:lumMod val="75000"/>
                  </a:schemeClr>
                </a:solidFill>
              </a:rPr>
              <a:t>Can remove important data using harmful SQL commands.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Gains Extra Access:</a:t>
            </a:r>
            <a:r>
              <a:rPr lang="en-US" altLang="en-US" sz="22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en-US" altLang="en-US" sz="2200" dirty="0">
                <a:solidFill>
                  <a:schemeClr val="tx1">
                    <a:lumMod val="75000"/>
                  </a:schemeClr>
                </a:solidFill>
              </a:rPr>
              <a:t>May give attackers admin rights or hidden controls.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Reveals System Info:</a:t>
            </a:r>
            <a:r>
              <a:rPr lang="en-US" altLang="en-US" sz="22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en-US" altLang="en-US" sz="2200" dirty="0">
                <a:solidFill>
                  <a:schemeClr val="tx1">
                    <a:lumMod val="75000"/>
                  </a:schemeClr>
                </a:solidFill>
              </a:rPr>
              <a:t>Shows database details through error messages.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096BA04-2236-4009-E956-BE321A2D9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656" y="1506438"/>
            <a:ext cx="9690682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</a:rPr>
              <a:t>SQL Injection (SQLi) is a type of web security vulnerability that allows attackers to inject malicious SQL code into a query, enabling them to access, modify, or delete data in a database by manipulating user input fields.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812337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5AB8045-2625-CAEA-16C5-EA5053DA2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3CFDA30-15FF-7809-AB4F-52E614FF0AF8}"/>
              </a:ext>
            </a:extLst>
          </p:cNvPr>
          <p:cNvSpPr/>
          <p:nvPr/>
        </p:nvSpPr>
        <p:spPr>
          <a:xfrm>
            <a:off x="1010656" y="336885"/>
            <a:ext cx="9994228" cy="10748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latin typeface="+mj-lt"/>
              </a:rPr>
              <a:t>How SQL Injection works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E963973-A692-7377-A21B-B5734EC6C824}"/>
              </a:ext>
            </a:extLst>
          </p:cNvPr>
          <p:cNvCxnSpPr/>
          <p:nvPr/>
        </p:nvCxnSpPr>
        <p:spPr>
          <a:xfrm>
            <a:off x="1010656" y="1340266"/>
            <a:ext cx="96906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diagram of a web application&#10;&#10;AI-generated content may be incorrect.">
            <a:extLst>
              <a:ext uri="{FF2B5EF4-FFF2-40B4-BE49-F238E27FC236}">
                <a16:creationId xmlns:a16="http://schemas.microsoft.com/office/drawing/2014/main" id="{AF2BD966-06F3-C8AD-D2E7-4084FA35B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291" y="2019300"/>
            <a:ext cx="9298763" cy="383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649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F16A6C0-DBD3-B1F6-2778-5C8FAA9FF18E}"/>
              </a:ext>
            </a:extLst>
          </p:cNvPr>
          <p:cNvSpPr/>
          <p:nvPr/>
        </p:nvSpPr>
        <p:spPr>
          <a:xfrm>
            <a:off x="1010656" y="336885"/>
            <a:ext cx="9994228" cy="10748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latin typeface="+mj-lt"/>
              </a:rPr>
              <a:t>Example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EE019A-80B1-DCB3-B12C-FEF60CB0FED8}"/>
              </a:ext>
            </a:extLst>
          </p:cNvPr>
          <p:cNvSpPr/>
          <p:nvPr/>
        </p:nvSpPr>
        <p:spPr>
          <a:xfrm>
            <a:off x="1010656" y="1870556"/>
            <a:ext cx="9994228" cy="19694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000" dirty="0"/>
              <a:t>INPUT : </a:t>
            </a:r>
            <a:r>
              <a:rPr lang="en-US" sz="2000" dirty="0">
                <a:solidFill>
                  <a:srgbClr val="FF0000"/>
                </a:solidFill>
              </a:rPr>
              <a:t>' OR 1=1 –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This turns a query like: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SELECT * FROM users WHERE username = 'input’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INTO :</a:t>
            </a:r>
            <a:r>
              <a:rPr lang="en-US" sz="2000" dirty="0">
                <a:solidFill>
                  <a:schemeClr val="tx1">
                    <a:lumMod val="65000"/>
                  </a:schemeClr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</a:rPr>
              <a:t>SELECT * FROM users WHERE username = '' OR 1=1 --’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B0F0"/>
                </a:solidFill>
              </a:rPr>
              <a:t>Which always returns true, bypassing login.</a:t>
            </a:r>
            <a:r>
              <a:rPr lang="en-US" sz="2000" dirty="0">
                <a:solidFill>
                  <a:srgbClr val="00B0F0"/>
                </a:solidFill>
                <a:highlight>
                  <a:srgbClr val="FFFF00"/>
                </a:highlight>
              </a:rPr>
              <a:t>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20EE50F-13EC-555F-F0E7-0D4A66382B4D}"/>
              </a:ext>
            </a:extLst>
          </p:cNvPr>
          <p:cNvCxnSpPr/>
          <p:nvPr/>
        </p:nvCxnSpPr>
        <p:spPr>
          <a:xfrm>
            <a:off x="1010656" y="1297402"/>
            <a:ext cx="96906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28383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1866DC-38CF-81A5-2B8A-5513B7845D71}"/>
              </a:ext>
            </a:extLst>
          </p:cNvPr>
          <p:cNvSpPr/>
          <p:nvPr/>
        </p:nvSpPr>
        <p:spPr>
          <a:xfrm>
            <a:off x="1010656" y="336885"/>
            <a:ext cx="9994228" cy="10748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latin typeface="+mj-lt"/>
              </a:rPr>
              <a:t>Types of SQL Injection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736721D-8419-D667-7F22-8A75AB9535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3783301"/>
              </p:ext>
            </p:extLst>
          </p:nvPr>
        </p:nvGraphicFramePr>
        <p:xfrm>
          <a:off x="1139243" y="1721642"/>
          <a:ext cx="9865641" cy="4614748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3288547">
                  <a:extLst>
                    <a:ext uri="{9D8B030D-6E8A-4147-A177-3AD203B41FA5}">
                      <a16:colId xmlns:a16="http://schemas.microsoft.com/office/drawing/2014/main" val="64433510"/>
                    </a:ext>
                  </a:extLst>
                </a:gridCol>
                <a:gridCol w="3288547">
                  <a:extLst>
                    <a:ext uri="{9D8B030D-6E8A-4147-A177-3AD203B41FA5}">
                      <a16:colId xmlns:a16="http://schemas.microsoft.com/office/drawing/2014/main" val="2045156282"/>
                    </a:ext>
                  </a:extLst>
                </a:gridCol>
                <a:gridCol w="3288547">
                  <a:extLst>
                    <a:ext uri="{9D8B030D-6E8A-4147-A177-3AD203B41FA5}">
                      <a16:colId xmlns:a16="http://schemas.microsoft.com/office/drawing/2014/main" val="3737022755"/>
                    </a:ext>
                  </a:extLst>
                </a:gridCol>
              </a:tblGrid>
              <a:tr h="4676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Type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Description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Example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408282504"/>
                  </a:ext>
                </a:extLst>
              </a:tr>
              <a:tr h="4676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Tautology</a:t>
                      </a:r>
                      <a:endParaRPr lang="en-US" dirty="0"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Bypasses login using true conditions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' OR '1'='1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4106803518"/>
                  </a:ext>
                </a:extLst>
              </a:tr>
              <a:tr h="4676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Union-based</a:t>
                      </a:r>
                      <a:endParaRPr lang="en-US" dirty="0"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Extracts data from other tables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' UNION SELECT 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772707936"/>
                  </a:ext>
                </a:extLst>
              </a:tr>
              <a:tr h="8183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Comment-based</a:t>
                      </a:r>
                      <a:endParaRPr lang="en-US" dirty="0"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Hides payload using SQL comments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' OR 1=1 --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653801533"/>
                  </a:ext>
                </a:extLst>
              </a:tr>
              <a:tr h="8183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Encoded Input</a:t>
                      </a:r>
                      <a:endParaRPr lang="en-US"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Uses encoded characters for injection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%27 OR 1=1 --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917077499"/>
                  </a:ext>
                </a:extLst>
              </a:tr>
              <a:tr h="4676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Time-based</a:t>
                      </a:r>
                      <a:endParaRPr lang="en-US"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Delays response to leak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' OR SLEEP(5)--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629777725"/>
                  </a:ext>
                </a:extLst>
              </a:tr>
              <a:tr h="4676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Error-based</a:t>
                      </a:r>
                      <a:endParaRPr lang="en-US"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Forces DB errors to expose info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' AND 1=@@version--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251278318"/>
                  </a:ext>
                </a:extLst>
              </a:tr>
              <a:tr h="4676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Special Chars</a:t>
                      </a:r>
                      <a:endParaRPr lang="en-US"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Ends query, adds malicious SQL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'; DROP TABLE users;--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75795787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ECAA643-D12D-F6C8-CD75-28CF4AAE104B}"/>
              </a:ext>
            </a:extLst>
          </p:cNvPr>
          <p:cNvCxnSpPr>
            <a:cxnSpLocks/>
          </p:cNvCxnSpPr>
          <p:nvPr/>
        </p:nvCxnSpPr>
        <p:spPr>
          <a:xfrm>
            <a:off x="1010656" y="1240252"/>
            <a:ext cx="102193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4202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0F9AD3-B735-72A6-5110-49CBED06E945}"/>
              </a:ext>
            </a:extLst>
          </p:cNvPr>
          <p:cNvSpPr/>
          <p:nvPr/>
        </p:nvSpPr>
        <p:spPr>
          <a:xfrm>
            <a:off x="1010656" y="336885"/>
            <a:ext cx="9994228" cy="10748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latin typeface="+mj-lt"/>
              </a:rPr>
              <a:t>Recent SQL Injection attacks on Indian websites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6BE5C01-96C3-A5DF-30F3-30475455BF9D}"/>
              </a:ext>
            </a:extLst>
          </p:cNvPr>
          <p:cNvCxnSpPr>
            <a:cxnSpLocks/>
          </p:cNvCxnSpPr>
          <p:nvPr/>
        </p:nvCxnSpPr>
        <p:spPr>
          <a:xfrm>
            <a:off x="1010656" y="1297402"/>
            <a:ext cx="102193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8CEDA5C-4192-4B6D-D6BE-FD7F11498D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6982326"/>
              </p:ext>
            </p:extLst>
          </p:nvPr>
        </p:nvGraphicFramePr>
        <p:xfrm>
          <a:off x="1114424" y="1585907"/>
          <a:ext cx="9890460" cy="4935192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2472615">
                  <a:extLst>
                    <a:ext uri="{9D8B030D-6E8A-4147-A177-3AD203B41FA5}">
                      <a16:colId xmlns:a16="http://schemas.microsoft.com/office/drawing/2014/main" val="269260935"/>
                    </a:ext>
                  </a:extLst>
                </a:gridCol>
                <a:gridCol w="2472615">
                  <a:extLst>
                    <a:ext uri="{9D8B030D-6E8A-4147-A177-3AD203B41FA5}">
                      <a16:colId xmlns:a16="http://schemas.microsoft.com/office/drawing/2014/main" val="4112130222"/>
                    </a:ext>
                  </a:extLst>
                </a:gridCol>
                <a:gridCol w="2472615">
                  <a:extLst>
                    <a:ext uri="{9D8B030D-6E8A-4147-A177-3AD203B41FA5}">
                      <a16:colId xmlns:a16="http://schemas.microsoft.com/office/drawing/2014/main" val="1663127146"/>
                    </a:ext>
                  </a:extLst>
                </a:gridCol>
                <a:gridCol w="2472615">
                  <a:extLst>
                    <a:ext uri="{9D8B030D-6E8A-4147-A177-3AD203B41FA5}">
                      <a16:colId xmlns:a16="http://schemas.microsoft.com/office/drawing/2014/main" val="748641868"/>
                    </a:ext>
                  </a:extLst>
                </a:gridCol>
              </a:tblGrid>
              <a:tr h="4028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/>
                        <a:t>Year</a:t>
                      </a:r>
                      <a:endParaRPr lang="en-US" sz="1700" dirty="0"/>
                    </a:p>
                  </a:txBody>
                  <a:tcPr marL="58038" marR="58038" marT="29019" marB="290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/>
                        <a:t>Target</a:t>
                      </a:r>
                      <a:endParaRPr lang="en-US" sz="1700"/>
                    </a:p>
                  </a:txBody>
                  <a:tcPr marL="58038" marR="58038" marT="29019" marB="290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/>
                        <a:t>Type of SQLi</a:t>
                      </a:r>
                      <a:endParaRPr lang="en-US" sz="1700"/>
                    </a:p>
                  </a:txBody>
                  <a:tcPr marL="58038" marR="58038" marT="29019" marB="290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/>
                        <a:t>Impact</a:t>
                      </a:r>
                      <a:endParaRPr lang="en-US" sz="1700"/>
                    </a:p>
                  </a:txBody>
                  <a:tcPr marL="58038" marR="58038" marT="29019" marB="290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056375384"/>
                  </a:ext>
                </a:extLst>
              </a:tr>
              <a:tr h="10071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2025</a:t>
                      </a:r>
                    </a:p>
                  </a:txBody>
                  <a:tcPr marL="58038" marR="58038" marT="29019" marB="290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Tamil Nadu Govt Portal</a:t>
                      </a:r>
                      <a:endParaRPr lang="en-US" sz="1700"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58038" marR="58038" marT="29019" marB="290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Time-based Blind SQLi</a:t>
                      </a:r>
                    </a:p>
                  </a:txBody>
                  <a:tcPr marL="58038" marR="58038" marT="29019" marB="290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~1 million Aadhaar, student, and user records leaked</a:t>
                      </a:r>
                    </a:p>
                  </a:txBody>
                  <a:tcPr marL="58038" marR="58038" marT="29019" marB="290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781283487"/>
                  </a:ext>
                </a:extLst>
              </a:tr>
              <a:tr h="7050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2025</a:t>
                      </a:r>
                    </a:p>
                  </a:txBody>
                  <a:tcPr marL="58038" marR="58038" marT="29019" marB="290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Undisclosed .gov.in Site</a:t>
                      </a:r>
                      <a:endParaRPr lang="en-US" sz="1700"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58038" marR="58038" marT="29019" marB="290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Boolean, UNION, Time-based</a:t>
                      </a:r>
                    </a:p>
                  </a:txBody>
                  <a:tcPr marL="58038" marR="58038" marT="29019" marB="290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Millions of Aadhaar + banking records exposed</a:t>
                      </a:r>
                    </a:p>
                  </a:txBody>
                  <a:tcPr marL="58038" marR="58038" marT="29019" marB="290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147957711"/>
                  </a:ext>
                </a:extLst>
              </a:tr>
              <a:tr h="7050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2024</a:t>
                      </a:r>
                    </a:p>
                  </a:txBody>
                  <a:tcPr marL="58038" marR="58038" marT="29019" marB="290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Assam State Exam Portal</a:t>
                      </a:r>
                      <a:endParaRPr lang="en-US" sz="1700" dirty="0"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58038" marR="58038" marT="29019" marB="290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UNION-based SQLi</a:t>
                      </a:r>
                    </a:p>
                  </a:txBody>
                  <a:tcPr marL="58038" marR="58038" marT="29019" marB="290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~1.1 million job seekers' PII (name, Aadhaar, caste)</a:t>
                      </a:r>
                    </a:p>
                  </a:txBody>
                  <a:tcPr marL="58038" marR="58038" marT="29019" marB="290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060156076"/>
                  </a:ext>
                </a:extLst>
              </a:tr>
              <a:tr h="7050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2023</a:t>
                      </a:r>
                    </a:p>
                  </a:txBody>
                  <a:tcPr marL="58038" marR="58038" marT="29019" marB="290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IGNOU Student Portal</a:t>
                      </a:r>
                      <a:endParaRPr lang="en-US" sz="1700"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58038" marR="58038" marT="29019" marB="290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SQLi on modules</a:t>
                      </a:r>
                    </a:p>
                  </a:txBody>
                  <a:tcPr marL="58038" marR="58038" marT="29019" marB="290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~1 million student records potentially exposed</a:t>
                      </a:r>
                    </a:p>
                  </a:txBody>
                  <a:tcPr marL="58038" marR="58038" marT="29019" marB="290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546071766"/>
                  </a:ext>
                </a:extLst>
              </a:tr>
              <a:tr h="7050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2018</a:t>
                      </a:r>
                    </a:p>
                  </a:txBody>
                  <a:tcPr marL="58038" marR="58038" marT="29019" marB="290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BSNL Subdomain</a:t>
                      </a:r>
                      <a:endParaRPr lang="en-US" sz="1700"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58038" marR="58038" marT="29019" marB="290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Classic SQLi</a:t>
                      </a:r>
                    </a:p>
                  </a:txBody>
                  <a:tcPr marL="58038" marR="58038" marT="29019" marB="290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~47,000 employee credentials leaked</a:t>
                      </a:r>
                    </a:p>
                  </a:txBody>
                  <a:tcPr marL="58038" marR="58038" marT="29019" marB="290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730649980"/>
                  </a:ext>
                </a:extLst>
              </a:tr>
              <a:tr h="7050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2016</a:t>
                      </a:r>
                    </a:p>
                  </a:txBody>
                  <a:tcPr marL="58038" marR="58038" marT="29019" marB="290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IRCTC (Indian Railways)</a:t>
                      </a:r>
                      <a:endParaRPr lang="en-US" sz="1700"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58038" marR="58038" marT="29019" marB="290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Suspected SQLi/API flaw</a:t>
                      </a:r>
                    </a:p>
                  </a:txBody>
                  <a:tcPr marL="58038" marR="58038" marT="29019" marB="290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~2 lakh passenger records leaked</a:t>
                      </a:r>
                    </a:p>
                  </a:txBody>
                  <a:tcPr marL="58038" marR="58038" marT="29019" marB="290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41119123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33128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CDCB8B-0E10-8770-9C2E-61D8967D2CAE}"/>
              </a:ext>
            </a:extLst>
          </p:cNvPr>
          <p:cNvSpPr/>
          <p:nvPr/>
        </p:nvSpPr>
        <p:spPr>
          <a:xfrm>
            <a:off x="1010656" y="336885"/>
            <a:ext cx="9994228" cy="10748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latin typeface="+mj-lt"/>
              </a:rPr>
              <a:t>Solution of SQL Injection Attacks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55A17AE-756D-A0C1-F4EE-7B00373413A8}"/>
              </a:ext>
            </a:extLst>
          </p:cNvPr>
          <p:cNvCxnSpPr/>
          <p:nvPr/>
        </p:nvCxnSpPr>
        <p:spPr>
          <a:xfrm>
            <a:off x="1010656" y="1340266"/>
            <a:ext cx="96906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E32220A-31C6-EFEA-918F-18ABB8CE008E}"/>
              </a:ext>
            </a:extLst>
          </p:cNvPr>
          <p:cNvSpPr txBox="1"/>
          <p:nvPr/>
        </p:nvSpPr>
        <p:spPr>
          <a:xfrm>
            <a:off x="1010656" y="1447649"/>
            <a:ext cx="969068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Input Validation: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</a:rPr>
              <a:t>Rejects dangerous or malformed inputs.</a:t>
            </a: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Parameterized Queries: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</a:rPr>
              <a:t>Prevents SQL code from mixing with user input.</a:t>
            </a: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Stored Procedures: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</a:rPr>
              <a:t>Reduces direct SQL exposure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Web Application Firewalls (WAFs):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</a:rPr>
              <a:t>Blocks known attack patterns.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2C3E8C-0F93-C0E5-233F-6D1DF53060A7}"/>
              </a:ext>
            </a:extLst>
          </p:cNvPr>
          <p:cNvSpPr/>
          <p:nvPr/>
        </p:nvSpPr>
        <p:spPr>
          <a:xfrm>
            <a:off x="1010656" y="3151804"/>
            <a:ext cx="9994228" cy="10748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latin typeface="+mj-lt"/>
              </a:rPr>
              <a:t>Modern approach to solve this problem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1890F0B-D7F9-CE00-D674-F5CD0251654B}"/>
              </a:ext>
            </a:extLst>
          </p:cNvPr>
          <p:cNvCxnSpPr/>
          <p:nvPr/>
        </p:nvCxnSpPr>
        <p:spPr>
          <a:xfrm>
            <a:off x="1010656" y="4155185"/>
            <a:ext cx="96906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3">
            <a:extLst>
              <a:ext uri="{FF2B5EF4-FFF2-40B4-BE49-F238E27FC236}">
                <a16:creationId xmlns:a16="http://schemas.microsoft.com/office/drawing/2014/main" id="{23A28EDA-D606-EC95-65CD-4CC14C7F1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655" y="4266016"/>
            <a:ext cx="9994227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Pattern Extraction: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</a:rPr>
              <a:t>Normalizes SQL queries into structured tokens </a:t>
            </a:r>
            <a:endParaRPr lang="en-US" altLang="en-US" sz="2200" dirty="0">
              <a:solidFill>
                <a:schemeClr val="tx1">
                  <a:lumMod val="75000"/>
                </a:schemeClr>
              </a:solidFill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ML Classification: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</a:rPr>
              <a:t>Random Forest model detects injection attempts.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Real-Time Detection: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</a:rPr>
              <a:t>Flags unsafe queries instantly in the web interface.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Admin Tools: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</a:rPr>
              <a:t>Logs queries, exports reports, and monitors attack trends.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Obfuscation Handling: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</a:rPr>
              <a:t>Catches encoded, hidden, or indirect payloads.</a:t>
            </a:r>
          </a:p>
        </p:txBody>
      </p:sp>
    </p:spTree>
    <p:extLst>
      <p:ext uri="{BB962C8B-B14F-4D97-AF65-F5344CB8AC3E}">
        <p14:creationId xmlns:p14="http://schemas.microsoft.com/office/powerpoint/2010/main" val="3956595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A8E0320-7C56-18C4-F3B3-1D1AAFF4DD11}"/>
              </a:ext>
            </a:extLst>
          </p:cNvPr>
          <p:cNvSpPr/>
          <p:nvPr/>
        </p:nvSpPr>
        <p:spPr>
          <a:xfrm>
            <a:off x="1010656" y="336885"/>
            <a:ext cx="9994228" cy="10748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latin typeface="+mj-lt"/>
              </a:rPr>
              <a:t>SQL Injection Detection using Machine Learning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8762C1-2527-F3FD-00A7-F25DACA0A497}"/>
              </a:ext>
            </a:extLst>
          </p:cNvPr>
          <p:cNvSpPr/>
          <p:nvPr/>
        </p:nvSpPr>
        <p:spPr>
          <a:xfrm>
            <a:off x="1010656" y="1870556"/>
            <a:ext cx="9994228" cy="19694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2000" dirty="0">
              <a:solidFill>
                <a:srgbClr val="00B0F0"/>
              </a:solidFill>
              <a:highlight>
                <a:srgbClr val="FFFF00"/>
              </a:highlight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883064-B555-9DFA-6A1F-3532907EB390}"/>
              </a:ext>
            </a:extLst>
          </p:cNvPr>
          <p:cNvCxnSpPr/>
          <p:nvPr/>
        </p:nvCxnSpPr>
        <p:spPr>
          <a:xfrm>
            <a:off x="1010656" y="1297402"/>
            <a:ext cx="96906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86E22740-F47E-A91A-2DCC-B309384EB1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9829792"/>
              </p:ext>
            </p:extLst>
          </p:nvPr>
        </p:nvGraphicFramePr>
        <p:xfrm>
          <a:off x="132229" y="2768444"/>
          <a:ext cx="11927541" cy="23959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41F78528-6672-F4CF-2729-BB585DCDE681}"/>
              </a:ext>
            </a:extLst>
          </p:cNvPr>
          <p:cNvSpPr/>
          <p:nvPr/>
        </p:nvSpPr>
        <p:spPr>
          <a:xfrm>
            <a:off x="1098886" y="1693623"/>
            <a:ext cx="9994228" cy="10748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u="sng" dirty="0">
                <a:latin typeface="+mj-lt"/>
              </a:rPr>
              <a:t>Flow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40151012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08922E7-BED8-9298-86D5-BBC0FEDE5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9FDCAD-021A-8814-A5C7-8DC133B381BE}"/>
              </a:ext>
            </a:extLst>
          </p:cNvPr>
          <p:cNvSpPr/>
          <p:nvPr/>
        </p:nvSpPr>
        <p:spPr>
          <a:xfrm>
            <a:off x="1010656" y="336885"/>
            <a:ext cx="9994228" cy="10748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latin typeface="+mj-lt"/>
              </a:rPr>
              <a:t>SQL Injection Detection using Machine Learning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5621E0-3845-EBAE-AD27-B7FA5D78A57F}"/>
              </a:ext>
            </a:extLst>
          </p:cNvPr>
          <p:cNvCxnSpPr/>
          <p:nvPr/>
        </p:nvCxnSpPr>
        <p:spPr>
          <a:xfrm>
            <a:off x="1010656" y="1297402"/>
            <a:ext cx="96906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65ECBCB2-A11F-202D-DD36-A7FB51846E74}"/>
              </a:ext>
            </a:extLst>
          </p:cNvPr>
          <p:cNvSpPr/>
          <p:nvPr/>
        </p:nvSpPr>
        <p:spPr>
          <a:xfrm>
            <a:off x="1098886" y="1546176"/>
            <a:ext cx="9389820" cy="5642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u="sng" dirty="0">
                <a:latin typeface="+mj-lt"/>
              </a:rPr>
              <a:t>Technologies Used in this Project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97944BD8-9DCB-A3D3-07D3-8A0FCC43B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0344" y="2430965"/>
            <a:ext cx="10586608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200" b="1" dirty="0"/>
              <a:t>Python :</a:t>
            </a:r>
            <a:r>
              <a:rPr lang="en-US" altLang="en-US" sz="2200" dirty="0"/>
              <a:t> </a:t>
            </a:r>
            <a:r>
              <a:rPr lang="en-US" altLang="en-US" sz="2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Core programming language for backend and ML logic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200" b="1" dirty="0"/>
              <a:t>Scikit-learn</a:t>
            </a:r>
            <a:r>
              <a:rPr lang="en-US" altLang="en-US" sz="2200" dirty="0"/>
              <a:t> : </a:t>
            </a:r>
            <a:r>
              <a:rPr lang="en-US" altLang="en-US" sz="2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Random Forest model and vectorization with </a:t>
            </a:r>
            <a:r>
              <a:rPr lang="en-US" altLang="en-US" sz="22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CountVectorizer</a:t>
            </a:r>
            <a:endParaRPr lang="en-US" altLang="en-US" sz="2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200" b="1" dirty="0" err="1"/>
              <a:t>joblib</a:t>
            </a:r>
            <a:r>
              <a:rPr lang="en-US" altLang="en-US" sz="2200" dirty="0"/>
              <a:t> : </a:t>
            </a:r>
            <a:r>
              <a:rPr lang="en-US" altLang="en-US" sz="2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Saving and loading the trained ML model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200" b="1" dirty="0"/>
              <a:t>Regex (re)</a:t>
            </a:r>
            <a:r>
              <a:rPr lang="en-US" altLang="en-US" sz="2200" dirty="0"/>
              <a:t> : </a:t>
            </a:r>
            <a:r>
              <a:rPr lang="en-US" altLang="en-US" sz="2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Pattern extraction from SQL queries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200" b="1" dirty="0"/>
              <a:t>Flask</a:t>
            </a:r>
            <a:r>
              <a:rPr lang="en-US" altLang="en-US" sz="2200" dirty="0"/>
              <a:t> : </a:t>
            </a:r>
            <a:r>
              <a:rPr lang="en-US" altLang="en-US" sz="2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Web framework for query input and prediction interface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200" b="1" dirty="0"/>
              <a:t>xhtml2pdf</a:t>
            </a:r>
            <a:r>
              <a:rPr lang="en-US" altLang="en-US" sz="2200" dirty="0"/>
              <a:t> : </a:t>
            </a:r>
            <a:r>
              <a:rPr lang="en-US" altLang="en-US" sz="2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PDF export for admin reports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200" b="1" dirty="0" err="1"/>
              <a:t>PyWebView</a:t>
            </a:r>
            <a:r>
              <a:rPr lang="en-US" altLang="en-US" sz="2200" dirty="0"/>
              <a:t> : </a:t>
            </a:r>
            <a:r>
              <a:rPr lang="en-US" altLang="en-US" sz="2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GUI integration to wrap Flask as a desktop app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200" b="1" dirty="0"/>
              <a:t>HTML, CSS, Jinja2</a:t>
            </a:r>
            <a:r>
              <a:rPr lang="en-US" altLang="en-US" sz="2200" dirty="0"/>
              <a:t> : </a:t>
            </a:r>
            <a:r>
              <a:rPr lang="en-US" altLang="en-US" sz="2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Frontend for user interface and admin dashboard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84ECEF1-03DC-53D1-646C-A11520277092}"/>
              </a:ext>
            </a:extLst>
          </p:cNvPr>
          <p:cNvGrpSpPr/>
          <p:nvPr/>
        </p:nvGrpSpPr>
        <p:grpSpPr>
          <a:xfrm>
            <a:off x="9009530" y="2212929"/>
            <a:ext cx="3128682" cy="3236838"/>
            <a:chOff x="8479323" y="646574"/>
            <a:chExt cx="2944043" cy="2927797"/>
          </a:xfrm>
        </p:grpSpPr>
        <p:pic>
          <p:nvPicPr>
            <p:cNvPr id="16" name="Picture 15" descr="A logo of a website&#10;&#10;AI-generated content may be incorrect.">
              <a:extLst>
                <a:ext uri="{FF2B5EF4-FFF2-40B4-BE49-F238E27FC236}">
                  <a16:creationId xmlns:a16="http://schemas.microsoft.com/office/drawing/2014/main" id="{2AB1983A-938B-9CD5-EBE5-4613AFDC9B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00240" y="1292528"/>
              <a:ext cx="1123356" cy="968410"/>
            </a:xfrm>
            <a:prstGeom prst="rect">
              <a:avLst/>
            </a:prstGeom>
          </p:spPr>
        </p:pic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CDDE2765-3D2A-7381-C914-8C55C7458596}"/>
                </a:ext>
              </a:extLst>
            </p:cNvPr>
            <p:cNvGrpSpPr/>
            <p:nvPr/>
          </p:nvGrpSpPr>
          <p:grpSpPr>
            <a:xfrm>
              <a:off x="8479323" y="646574"/>
              <a:ext cx="2944043" cy="2927797"/>
              <a:chOff x="9434064" y="433986"/>
              <a:chExt cx="2944043" cy="2927797"/>
            </a:xfrm>
          </p:grpSpPr>
          <p:pic>
            <p:nvPicPr>
              <p:cNvPr id="12" name="Picture 11" descr="A black and orange gear with white text&#10;&#10;AI-generated content may be incorrect.">
                <a:extLst>
                  <a:ext uri="{FF2B5EF4-FFF2-40B4-BE49-F238E27FC236}">
                    <a16:creationId xmlns:a16="http://schemas.microsoft.com/office/drawing/2014/main" id="{8C68D6C9-533F-7A8C-3EF8-EF95DF0710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2609" b="99348" l="0" r="90000">
                            <a14:foregroundMark x1="41304" y1="8913" x2="50217" y2="8043"/>
                            <a14:foregroundMark x1="36957" y1="4565" x2="39130" y2="6739"/>
                            <a14:foregroundMark x1="51739" y1="2826" x2="51087" y2="4565"/>
                            <a14:foregroundMark x1="12391" y1="66957" x2="18696" y2="69565"/>
                            <a14:foregroundMark x1="2609" y1="74348" x2="5435" y2="62174"/>
                            <a14:foregroundMark x1="5435" y1="62174" x2="12826" y2="71087"/>
                            <a14:foregroundMark x1="12826" y1="71087" x2="13043" y2="71087"/>
                            <a14:foregroundMark x1="23478" y1="70652" x2="23478" y2="70652"/>
                            <a14:foregroundMark x1="18261" y1="62174" x2="20652" y2="74348"/>
                            <a14:foregroundMark x1="1739" y1="65435" x2="2174" y2="82609"/>
                            <a14:foregroundMark x1="2174" y1="82609" x2="16957" y2="94783"/>
                            <a14:foregroundMark x1="16957" y1="94783" x2="23478" y2="91522"/>
                            <a14:foregroundMark x1="870" y1="86304" x2="217" y2="85217"/>
                            <a14:foregroundMark x1="4565" y1="98478" x2="7609" y2="99348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527353" y="1246897"/>
                <a:ext cx="855477" cy="855477"/>
              </a:xfrm>
              <a:prstGeom prst="rect">
                <a:avLst/>
              </a:prstGeom>
            </p:spPr>
          </p:pic>
          <p:pic>
            <p:nvPicPr>
              <p:cNvPr id="14" name="Picture 13" descr="A blue and white logo&#10;&#10;AI-generated content may be incorrect.">
                <a:extLst>
                  <a:ext uri="{FF2B5EF4-FFF2-40B4-BE49-F238E27FC236}">
                    <a16:creationId xmlns:a16="http://schemas.microsoft.com/office/drawing/2014/main" id="{B684DE08-19F7-5EDA-ABEC-3D8152A4B2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360890" y="1041448"/>
                <a:ext cx="1017217" cy="1068310"/>
              </a:xfrm>
              <a:prstGeom prst="rect">
                <a:avLst/>
              </a:prstGeom>
            </p:spPr>
          </p:pic>
          <p:pic>
            <p:nvPicPr>
              <p:cNvPr id="18" name="Picture 17" descr="A logo of a company&#10;&#10;AI-generated content may be incorrect.">
                <a:extLst>
                  <a:ext uri="{FF2B5EF4-FFF2-40B4-BE49-F238E27FC236}">
                    <a16:creationId xmlns:a16="http://schemas.microsoft.com/office/drawing/2014/main" id="{C1253563-64A8-FE2E-7EED-E9B0EEC23C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ackgroundRemoval t="6533" b="96985" l="2372" r="98419">
                            <a14:foregroundMark x1="49802" y1="9548" x2="49802" y2="9548"/>
                            <a14:foregroundMark x1="49012" y1="6533" x2="49012" y2="6533"/>
                            <a14:foregroundMark x1="2372" y1="87437" x2="2372" y2="87437"/>
                            <a14:foregroundMark x1="2372" y1="97487" x2="2372" y2="97487"/>
                            <a14:foregroundMark x1="14625" y1="87437" x2="14625" y2="87437"/>
                            <a14:foregroundMark x1="26877" y1="90955" x2="26877" y2="90955"/>
                            <a14:foregroundMark x1="33202" y1="88945" x2="33202" y2="88945"/>
                            <a14:foregroundMark x1="39526" y1="86935" x2="39526" y2="86935"/>
                            <a14:foregroundMark x1="50593" y1="82412" x2="50593" y2="82412"/>
                            <a14:foregroundMark x1="64822" y1="90955" x2="64822" y2="90955"/>
                            <a14:foregroundMark x1="71146" y1="83920" x2="71146" y2="83920"/>
                            <a14:foregroundMark x1="71146" y1="75377" x2="71146" y2="75377"/>
                            <a14:foregroundMark x1="81818" y1="85930" x2="81818" y2="85930"/>
                            <a14:foregroundMark x1="88933" y1="91457" x2="88933" y2="91457"/>
                            <a14:foregroundMark x1="94466" y1="91457" x2="94466" y2="91457"/>
                            <a14:foregroundMark x1="98419" y1="81910" x2="98419" y2="81910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135834" y="2059808"/>
                <a:ext cx="1131899" cy="890308"/>
              </a:xfrm>
              <a:prstGeom prst="rect">
                <a:avLst/>
              </a:prstGeom>
            </p:spPr>
          </p:pic>
          <p:pic>
            <p:nvPicPr>
              <p:cNvPr id="20" name="Picture 19" descr="A black and white drawing of a curved object&#10;&#10;AI-generated content may be incorrect.">
                <a:extLst>
                  <a:ext uri="{FF2B5EF4-FFF2-40B4-BE49-F238E27FC236}">
                    <a16:creationId xmlns:a16="http://schemas.microsoft.com/office/drawing/2014/main" id="{8ABD4078-B1DA-8362-D1F3-CFDD1B4C25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backgroundRemoval t="10000" b="90000" l="10000" r="90000">
                            <a14:foregroundMark x1="32667" y1="31077" x2="40444" y2="30308"/>
                            <a14:foregroundMark x1="37444" y1="35385" x2="35333" y2="48000"/>
                            <a14:foregroundMark x1="36333" y1="57692" x2="36333" y2="66462"/>
                            <a14:foregroundMark x1="35556" y1="68308" x2="37111" y2="70154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434064" y="1567205"/>
                <a:ext cx="2484800" cy="1794578"/>
              </a:xfrm>
              <a:prstGeom prst="rect">
                <a:avLst/>
              </a:prstGeom>
            </p:spPr>
          </p:pic>
          <p:pic>
            <p:nvPicPr>
              <p:cNvPr id="26" name="Picture 25" descr="A logo of a group of people&#10;&#10;AI-generated content may be incorrect.">
                <a:extLst>
                  <a:ext uri="{FF2B5EF4-FFF2-40B4-BE49-F238E27FC236}">
                    <a16:creationId xmlns:a16="http://schemas.microsoft.com/office/drawing/2014/main" id="{99208B55-281B-1468-28A1-B1CE461719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backgroundRemoval t="9942" b="90643" l="5442" r="92517">
                            <a14:foregroundMark x1="19728" y1="56725" x2="18027" y2="57310"/>
                            <a14:foregroundMark x1="6122" y1="59064" x2="6463" y2="66082"/>
                            <a14:foregroundMark x1="42857" y1="89474" x2="55782" y2="91228"/>
                            <a14:foregroundMark x1="63946" y1="10526" x2="63946" y2="10526"/>
                            <a14:foregroundMark x1="92517" y1="68421" x2="91837" y2="74269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700565" y="433986"/>
                <a:ext cx="1470818" cy="855476"/>
              </a:xfrm>
              <a:prstGeom prst="rect">
                <a:avLst/>
              </a:prstGeom>
            </p:spPr>
          </p:pic>
          <p:pic>
            <p:nvPicPr>
              <p:cNvPr id="28" name="Picture 27" descr="A blue and yellow logo&#10;&#10;AI-generated content may be incorrect.">
                <a:extLst>
                  <a:ext uri="{FF2B5EF4-FFF2-40B4-BE49-F238E27FC236}">
                    <a16:creationId xmlns:a16="http://schemas.microsoft.com/office/drawing/2014/main" id="{6F39D1D0-7464-DB7C-CB4E-3C14CA8733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backgroundRemoval t="10000" b="90000" l="10000" r="90000">
                            <a14:foregroundMark x1="46667" y1="37333" x2="46667" y2="37333"/>
                            <a14:foregroundMark x1="46667" y1="16889" x2="60889" y2="37778"/>
                            <a14:foregroundMark x1="60889" y1="37778" x2="12889" y2="46222"/>
                            <a14:foregroundMark x1="12889" y1="46222" x2="22222" y2="57778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676464" y="2053513"/>
                <a:ext cx="721725" cy="72172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37674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2A17ECB-1861-1415-F8D9-AF3DC8A66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2E5AE92-7BFC-A05C-3749-B7FDB18CD42F}"/>
              </a:ext>
            </a:extLst>
          </p:cNvPr>
          <p:cNvSpPr/>
          <p:nvPr/>
        </p:nvSpPr>
        <p:spPr>
          <a:xfrm>
            <a:off x="1010656" y="336885"/>
            <a:ext cx="9994228" cy="10748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latin typeface="+mj-lt"/>
              </a:rPr>
              <a:t>SQL Injection Detection using Machine Learning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1E417F5-C014-446F-4E6A-10533E265F7C}"/>
              </a:ext>
            </a:extLst>
          </p:cNvPr>
          <p:cNvCxnSpPr/>
          <p:nvPr/>
        </p:nvCxnSpPr>
        <p:spPr>
          <a:xfrm>
            <a:off x="1010656" y="1297402"/>
            <a:ext cx="96906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B38FBDC-F468-A1BD-FF48-8651811BD5C0}"/>
              </a:ext>
            </a:extLst>
          </p:cNvPr>
          <p:cNvSpPr/>
          <p:nvPr/>
        </p:nvSpPr>
        <p:spPr>
          <a:xfrm>
            <a:off x="1098886" y="1546176"/>
            <a:ext cx="9389820" cy="5642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u="sng" dirty="0">
                <a:latin typeface="+mj-lt"/>
              </a:rPr>
              <a:t>How this project solve the problem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DF489BEF-F193-EAEE-ADB9-96A372375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0344" y="3046519"/>
            <a:ext cx="734751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400" dirty="0"/>
              <a:t>Detects injection attempts in real-time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400" dirty="0"/>
              <a:t>Catches obfuscated or encoded SQLi payloads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400" dirty="0"/>
              <a:t>Learns patterns, not just fixed rules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400" dirty="0"/>
              <a:t>Adds an adaptive layer of defense</a:t>
            </a:r>
          </a:p>
        </p:txBody>
      </p:sp>
      <p:pic>
        <p:nvPicPr>
          <p:cNvPr id="6" name="Picture 5" descr="A syringe and server&#10;&#10;AI-generated content may be incorrect.">
            <a:extLst>
              <a:ext uri="{FF2B5EF4-FFF2-40B4-BE49-F238E27FC236}">
                <a16:creationId xmlns:a16="http://schemas.microsoft.com/office/drawing/2014/main" id="{4440E7D6-C333-E7B4-9F70-57C4FE0D81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000" b="95556" l="5778" r="92889">
                        <a14:foregroundMark x1="49778" y1="10667" x2="49778" y2="10667"/>
                        <a14:foregroundMark x1="54222" y1="5333" x2="54222" y2="5333"/>
                        <a14:foregroundMark x1="59111" y1="10222" x2="59111" y2="10222"/>
                        <a14:foregroundMark x1="58667" y1="9778" x2="58667" y2="9778"/>
                        <a14:foregroundMark x1="58667" y1="8444" x2="58667" y2="8444"/>
                        <a14:foregroundMark x1="58667" y1="26667" x2="58667" y2="26667"/>
                        <a14:foregroundMark x1="57778" y1="42667" x2="57778" y2="42667"/>
                        <a14:foregroundMark x1="11556" y1="69778" x2="11556" y2="69778"/>
                        <a14:foregroundMark x1="6667" y1="63111" x2="6667" y2="63111"/>
                        <a14:foregroundMark x1="5778" y1="62222" x2="5778" y2="62222"/>
                        <a14:foregroundMark x1="22667" y1="95556" x2="22667" y2="95556"/>
                        <a14:foregroundMark x1="68000" y1="92000" x2="68000" y2="92000"/>
                        <a14:foregroundMark x1="82222" y1="78222" x2="82222" y2="78222"/>
                        <a14:foregroundMark x1="72444" y1="65333" x2="72444" y2="65333"/>
                        <a14:foregroundMark x1="59111" y1="51556" x2="59111" y2="51556"/>
                        <a14:foregroundMark x1="28889" y1="52444" x2="28889" y2="52444"/>
                        <a14:foregroundMark x1="84889" y1="36444" x2="84889" y2="36444"/>
                        <a14:foregroundMark x1="82222" y1="42667" x2="82222" y2="42667"/>
                        <a14:foregroundMark x1="83111" y1="41778" x2="83111" y2="41778"/>
                        <a14:foregroundMark x1="81778" y1="46222" x2="81778" y2="46222"/>
                        <a14:foregroundMark x1="81333" y1="48444" x2="81333" y2="48444"/>
                        <a14:foregroundMark x1="88889" y1="7111" x2="88889" y2="7111"/>
                        <a14:foregroundMark x1="92889" y1="6667" x2="92889" y2="6667"/>
                        <a14:foregroundMark x1="89778" y1="4000" x2="89778" y2="4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3012" y="2520092"/>
            <a:ext cx="2614975" cy="261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550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7BF42F2-086C-56D1-6D81-DC6E17FBD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72A177-CC19-A243-91A4-4C272106B4C5}"/>
              </a:ext>
            </a:extLst>
          </p:cNvPr>
          <p:cNvSpPr/>
          <p:nvPr/>
        </p:nvSpPr>
        <p:spPr>
          <a:xfrm>
            <a:off x="1010656" y="336885"/>
            <a:ext cx="9994228" cy="10748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latin typeface="+mj-lt"/>
              </a:rPr>
              <a:t>SQL Injection Detection using Machine Learning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F7AF973-664E-44D3-58D1-E018BF4D5953}"/>
              </a:ext>
            </a:extLst>
          </p:cNvPr>
          <p:cNvCxnSpPr/>
          <p:nvPr/>
        </p:nvCxnSpPr>
        <p:spPr>
          <a:xfrm>
            <a:off x="1010656" y="1297402"/>
            <a:ext cx="96906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5D4E2044-EB72-9A55-5EE6-04F4247593E1}"/>
              </a:ext>
            </a:extLst>
          </p:cNvPr>
          <p:cNvSpPr/>
          <p:nvPr/>
        </p:nvSpPr>
        <p:spPr>
          <a:xfrm>
            <a:off x="1098886" y="1304130"/>
            <a:ext cx="9389820" cy="5642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u="sng" dirty="0">
                <a:latin typeface="+mj-lt"/>
              </a:rPr>
              <a:t>Screenshots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1DCC20-FB2E-032E-9232-32B5F05CF6B1}"/>
              </a:ext>
            </a:extLst>
          </p:cNvPr>
          <p:cNvSpPr/>
          <p:nvPr/>
        </p:nvSpPr>
        <p:spPr>
          <a:xfrm>
            <a:off x="651985" y="1982729"/>
            <a:ext cx="5204012" cy="4410631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12C4E1-2D35-CC5C-D055-1F9476384BA5}"/>
              </a:ext>
            </a:extLst>
          </p:cNvPr>
          <p:cNvSpPr/>
          <p:nvPr/>
        </p:nvSpPr>
        <p:spPr>
          <a:xfrm>
            <a:off x="6398204" y="1982730"/>
            <a:ext cx="5204012" cy="4410631"/>
          </a:xfrm>
          <a:prstGeom prst="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A9E24D-7214-605B-6726-3F1A27ECD204}"/>
              </a:ext>
            </a:extLst>
          </p:cNvPr>
          <p:cNvSpPr/>
          <p:nvPr/>
        </p:nvSpPr>
        <p:spPr>
          <a:xfrm>
            <a:off x="1708660" y="6393360"/>
            <a:ext cx="3090661" cy="3503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/>
              <a:t>User interface for SQL query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D11B09C-1D18-EE60-1356-3FD26E0F7304}"/>
              </a:ext>
            </a:extLst>
          </p:cNvPr>
          <p:cNvSpPr/>
          <p:nvPr/>
        </p:nvSpPr>
        <p:spPr>
          <a:xfrm>
            <a:off x="7454879" y="6406807"/>
            <a:ext cx="3090661" cy="3503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/>
              <a:t>SQL Injection Attack</a:t>
            </a:r>
          </a:p>
        </p:txBody>
      </p:sp>
    </p:spTree>
    <p:extLst>
      <p:ext uri="{BB962C8B-B14F-4D97-AF65-F5344CB8AC3E}">
        <p14:creationId xmlns:p14="http://schemas.microsoft.com/office/powerpoint/2010/main" val="2747694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1" grpId="0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8E64BEA-929D-80CC-93D4-23A504655035}"/>
              </a:ext>
            </a:extLst>
          </p:cNvPr>
          <p:cNvSpPr/>
          <p:nvPr/>
        </p:nvSpPr>
        <p:spPr>
          <a:xfrm>
            <a:off x="424722" y="1989448"/>
            <a:ext cx="5204012" cy="4410631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D643080-E81D-4550-7B5D-E726BF122F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6959" y="1989447"/>
            <a:ext cx="5204012" cy="4410631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7C5CE5F-0B6C-907A-46E5-4A7873059BC7}"/>
              </a:ext>
            </a:extLst>
          </p:cNvPr>
          <p:cNvSpPr/>
          <p:nvPr/>
        </p:nvSpPr>
        <p:spPr>
          <a:xfrm>
            <a:off x="1010656" y="336885"/>
            <a:ext cx="9994228" cy="10748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latin typeface="+mj-lt"/>
              </a:rPr>
              <a:t>SQL Injection Detection using Machine Learning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392D405-3BC3-9A5C-DE2D-9F2D924B73F9}"/>
              </a:ext>
            </a:extLst>
          </p:cNvPr>
          <p:cNvCxnSpPr/>
          <p:nvPr/>
        </p:nvCxnSpPr>
        <p:spPr>
          <a:xfrm>
            <a:off x="1010656" y="1297402"/>
            <a:ext cx="96906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D17EF8C0-7C2A-EA9F-0D84-CA87C98FA0A7}"/>
              </a:ext>
            </a:extLst>
          </p:cNvPr>
          <p:cNvSpPr/>
          <p:nvPr/>
        </p:nvSpPr>
        <p:spPr>
          <a:xfrm>
            <a:off x="1085439" y="1290683"/>
            <a:ext cx="9389820" cy="5642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u="sng" dirty="0">
                <a:latin typeface="+mj-lt"/>
              </a:rPr>
              <a:t>Screenshots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1E3307-7FAF-0587-7636-3BF8DAD3353A}"/>
              </a:ext>
            </a:extLst>
          </p:cNvPr>
          <p:cNvSpPr/>
          <p:nvPr/>
        </p:nvSpPr>
        <p:spPr>
          <a:xfrm>
            <a:off x="1481397" y="6412803"/>
            <a:ext cx="3090661" cy="3503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/>
              <a:t>Admin login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4B2147-6F1C-21A2-B2D2-0768C1659605}"/>
              </a:ext>
            </a:extLst>
          </p:cNvPr>
          <p:cNvSpPr/>
          <p:nvPr/>
        </p:nvSpPr>
        <p:spPr>
          <a:xfrm>
            <a:off x="7263634" y="6425528"/>
            <a:ext cx="3090661" cy="3503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/>
              <a:t>Dashboard for admin</a:t>
            </a:r>
          </a:p>
        </p:txBody>
      </p:sp>
    </p:spTree>
    <p:extLst>
      <p:ext uri="{BB962C8B-B14F-4D97-AF65-F5344CB8AC3E}">
        <p14:creationId xmlns:p14="http://schemas.microsoft.com/office/powerpoint/2010/main" val="15916025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2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8F9D21B-4FF9-0EB7-3607-3A974609B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B1304A0-9D75-3DCC-1E6F-7507A4FEA7FB}"/>
              </a:ext>
            </a:extLst>
          </p:cNvPr>
          <p:cNvSpPr/>
          <p:nvPr/>
        </p:nvSpPr>
        <p:spPr>
          <a:xfrm>
            <a:off x="1010656" y="336885"/>
            <a:ext cx="9994228" cy="10748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latin typeface="+mj-lt"/>
              </a:rPr>
              <a:t>SQL Injection Detection using Machine Learning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9AB1F7D-AB9C-BFFE-9526-6FCBC7FB6F27}"/>
              </a:ext>
            </a:extLst>
          </p:cNvPr>
          <p:cNvCxnSpPr/>
          <p:nvPr/>
        </p:nvCxnSpPr>
        <p:spPr>
          <a:xfrm>
            <a:off x="1010656" y="1297402"/>
            <a:ext cx="96906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9502BAE-9E3F-F2A4-B2ED-A51FFA1730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74"/>
          <a:stretch>
            <a:fillRect/>
          </a:stretch>
        </p:blipFill>
        <p:spPr>
          <a:xfrm>
            <a:off x="435652" y="2257920"/>
            <a:ext cx="6718183" cy="3968439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1394B4F-44AB-8989-188A-A4FEE8B337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9640" y="1478832"/>
            <a:ext cx="4614784" cy="474752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3705A97-D0F7-A015-0B73-9D8FF2F120E9}"/>
              </a:ext>
            </a:extLst>
          </p:cNvPr>
          <p:cNvSpPr/>
          <p:nvPr/>
        </p:nvSpPr>
        <p:spPr>
          <a:xfrm>
            <a:off x="2249412" y="6373806"/>
            <a:ext cx="3344564" cy="3503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/>
              <a:t>Dashboard – logs with download option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CD2815-5BFC-3974-0CB4-FE3B7BC04433}"/>
              </a:ext>
            </a:extLst>
          </p:cNvPr>
          <p:cNvSpPr/>
          <p:nvPr/>
        </p:nvSpPr>
        <p:spPr>
          <a:xfrm>
            <a:off x="8231701" y="6360829"/>
            <a:ext cx="3090661" cy="3503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/>
              <a:t>Output of pdf file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A12F5E-AD67-97A1-02E9-FA9A391FFA97}"/>
              </a:ext>
            </a:extLst>
          </p:cNvPr>
          <p:cNvSpPr/>
          <p:nvPr/>
        </p:nvSpPr>
        <p:spPr>
          <a:xfrm>
            <a:off x="1085439" y="1290683"/>
            <a:ext cx="9389820" cy="5642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u="sng" dirty="0">
                <a:latin typeface="+mj-lt"/>
              </a:rPr>
              <a:t>Screenshots</a:t>
            </a:r>
          </a:p>
        </p:txBody>
      </p:sp>
    </p:spTree>
    <p:extLst>
      <p:ext uri="{BB962C8B-B14F-4D97-AF65-F5344CB8AC3E}">
        <p14:creationId xmlns:p14="http://schemas.microsoft.com/office/powerpoint/2010/main" val="8286650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E44FBEB-0A10-796C-671A-7D264A283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EDBBEE-C1A7-1FB4-74B0-4789D7A5EC13}"/>
              </a:ext>
            </a:extLst>
          </p:cNvPr>
          <p:cNvSpPr/>
          <p:nvPr/>
        </p:nvSpPr>
        <p:spPr>
          <a:xfrm>
            <a:off x="1010656" y="336885"/>
            <a:ext cx="9994228" cy="10748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latin typeface="+mj-lt"/>
              </a:rPr>
              <a:t>SQL Injection Detection using Machine Learning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D7EA8AA-F612-36C0-D2CD-DD31079C7C52}"/>
              </a:ext>
            </a:extLst>
          </p:cNvPr>
          <p:cNvCxnSpPr/>
          <p:nvPr/>
        </p:nvCxnSpPr>
        <p:spPr>
          <a:xfrm>
            <a:off x="1010656" y="1297402"/>
            <a:ext cx="96906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D840BC8-B013-E395-CEB6-926D674922AD}"/>
              </a:ext>
            </a:extLst>
          </p:cNvPr>
          <p:cNvSpPr/>
          <p:nvPr/>
        </p:nvSpPr>
        <p:spPr>
          <a:xfrm>
            <a:off x="1161087" y="1443898"/>
            <a:ext cx="9389820" cy="5642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u="sng" dirty="0">
                <a:latin typeface="+mj-lt"/>
              </a:rPr>
              <a:t>Experimental Results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308E0326-2021-0A02-9CB0-D5E2464CD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657" y="2008195"/>
            <a:ext cx="5085343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200" b="1" u="sng" dirty="0">
                <a:latin typeface="+mj-lt"/>
              </a:rPr>
              <a:t>Test Results:</a:t>
            </a:r>
            <a:endParaRPr lang="en-US" sz="2200" b="1" dirty="0">
              <a:latin typeface="+mj-lt"/>
            </a:endParaRPr>
          </a:p>
          <a:p>
            <a:pPr marL="342900" lvl="0" indent="-342900"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Accuracy: 84.8%</a:t>
            </a:r>
          </a:p>
          <a:p>
            <a:pPr marL="342900" lvl="0" indent="-342900"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Safe Precision/Recall: 0.91 / 0.79</a:t>
            </a:r>
          </a:p>
          <a:p>
            <a:pPr marL="342900" lvl="0" indent="-342900"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Attack Precision/Recall: 0.80 / 0.91</a:t>
            </a:r>
          </a:p>
          <a:p>
            <a:pPr marL="342900" lvl="0" indent="-342900"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F1-Score (both classes): 0.85</a:t>
            </a:r>
          </a:p>
          <a:p>
            <a:pPr lvl="0"/>
            <a:endParaRPr lang="en-US" sz="2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US" sz="2200" b="1" u="sng" dirty="0"/>
              <a:t>Training Results:</a:t>
            </a:r>
            <a:endParaRPr lang="en-US" sz="2200" u="sng" dirty="0"/>
          </a:p>
          <a:p>
            <a:pPr marL="457200" lvl="0" indent="-457200"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Accuracy: 99.95%</a:t>
            </a:r>
          </a:p>
          <a:p>
            <a:pPr marL="457200" lvl="0" indent="-457200"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All metrics (Precision, Recall, F1-score): 1.00 for both classes</a:t>
            </a:r>
          </a:p>
          <a:p>
            <a:pPr lvl="0"/>
            <a:endParaRPr lang="en-US" sz="2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85B07A-A498-401F-D213-6B7ACA19C2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2257920"/>
            <a:ext cx="5793013" cy="345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0975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8798EB8-3A3F-D1AF-7B7A-B0F42421E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490F3A-6594-3792-6486-8703696F44F9}"/>
              </a:ext>
            </a:extLst>
          </p:cNvPr>
          <p:cNvSpPr/>
          <p:nvPr/>
        </p:nvSpPr>
        <p:spPr>
          <a:xfrm>
            <a:off x="1010656" y="336885"/>
            <a:ext cx="9994228" cy="10748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latin typeface="+mj-lt"/>
              </a:rPr>
              <a:t>SQL Injection Detection using Machine Learning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916552B-752C-3842-095E-EB0408672E1F}"/>
              </a:ext>
            </a:extLst>
          </p:cNvPr>
          <p:cNvCxnSpPr/>
          <p:nvPr/>
        </p:nvCxnSpPr>
        <p:spPr>
          <a:xfrm>
            <a:off x="1010656" y="1297402"/>
            <a:ext cx="96906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EFDFA007-28A5-DE68-1371-AC3D36815943}"/>
              </a:ext>
            </a:extLst>
          </p:cNvPr>
          <p:cNvSpPr/>
          <p:nvPr/>
        </p:nvSpPr>
        <p:spPr>
          <a:xfrm>
            <a:off x="1098886" y="1546176"/>
            <a:ext cx="9389820" cy="5642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u="sng" dirty="0">
                <a:latin typeface="+mj-lt"/>
              </a:rPr>
              <a:t>Future </a:t>
            </a:r>
            <a:r>
              <a:rPr lang="en-US" sz="3200" u="sng" dirty="0" err="1">
                <a:latin typeface="+mj-lt"/>
              </a:rPr>
              <a:t>Inhancments</a:t>
            </a:r>
            <a:endParaRPr lang="en-US" sz="3200" u="sng" dirty="0"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274D89-A3AE-2B84-0E77-1B1C558AA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48164" y="2372223"/>
            <a:ext cx="2614975" cy="2614975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F95BBFDB-ECFF-08C4-B796-0A92DB498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656" y="2616680"/>
            <a:ext cx="7366862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Integrate with Web Application Firewalls (WAFs) for real-time query blocking.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Upgrade to LSTM/GRU for deeper pattern learning.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Add advanced logging: geo-tracking, login attempts, user behavior.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Enable automatic model retraining from log data.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Convert system to an API.</a:t>
            </a:r>
          </a:p>
        </p:txBody>
      </p:sp>
    </p:spTree>
    <p:extLst>
      <p:ext uri="{BB962C8B-B14F-4D97-AF65-F5344CB8AC3E}">
        <p14:creationId xmlns:p14="http://schemas.microsoft.com/office/powerpoint/2010/main" val="37405167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49A01C-C616-6204-21E7-0E7B52890C80}"/>
              </a:ext>
            </a:extLst>
          </p:cNvPr>
          <p:cNvSpPr/>
          <p:nvPr/>
        </p:nvSpPr>
        <p:spPr>
          <a:xfrm>
            <a:off x="3505193" y="2875002"/>
            <a:ext cx="5181613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6600" b="1" dirty="0">
                <a:ln/>
                <a:solidFill>
                  <a:schemeClr val="accent3"/>
                </a:solidFill>
                <a:latin typeface="+mj-lt"/>
              </a:rPr>
              <a:t>THANK-YOU</a:t>
            </a:r>
          </a:p>
        </p:txBody>
      </p:sp>
    </p:spTree>
    <p:extLst>
      <p:ext uri="{BB962C8B-B14F-4D97-AF65-F5344CB8AC3E}">
        <p14:creationId xmlns:p14="http://schemas.microsoft.com/office/powerpoint/2010/main" val="25061162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4B4B4B"/>
      </a:dk2>
      <a:lt2>
        <a:srgbClr val="B5B5B5"/>
      </a:lt2>
      <a:accent1>
        <a:srgbClr val="9AC43E"/>
      </a:accent1>
      <a:accent2>
        <a:srgbClr val="44BA98"/>
      </a:accent2>
      <a:accent3>
        <a:srgbClr val="43A9D9"/>
      </a:accent3>
      <a:accent4>
        <a:srgbClr val="6274D8"/>
      </a:accent4>
      <a:accent5>
        <a:srgbClr val="AB54D7"/>
      </a:accent5>
      <a:accent6>
        <a:srgbClr val="D15B37"/>
      </a:accent6>
      <a:hlink>
        <a:srgbClr val="BFE962"/>
      </a:hlink>
      <a:folHlink>
        <a:srgbClr val="C0D591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892FADA9-420D-4323-A7A4-C1060166525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763</TotalTime>
  <Words>820</Words>
  <Application>Microsoft Office PowerPoint</Application>
  <PresentationFormat>Widescreen</PresentationFormat>
  <Paragraphs>140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Courier New</vt:lpstr>
      <vt:lpstr>Tw Cen MT</vt:lpstr>
      <vt:lpstr>Droplet</vt:lpstr>
      <vt:lpstr>SQL INJECTION DETECTION USING MACHINE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sarvesh kumrawat</dc:creator>
  <cp:lastModifiedBy>sarvesh kumrawat</cp:lastModifiedBy>
  <cp:revision>9</cp:revision>
  <dcterms:created xsi:type="dcterms:W3CDTF">2025-07-14T18:00:59Z</dcterms:created>
  <dcterms:modified xsi:type="dcterms:W3CDTF">2025-07-17T03:49:52Z</dcterms:modified>
</cp:coreProperties>
</file>